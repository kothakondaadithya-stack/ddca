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3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7" r:id="rId20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Aptos Bold" charset="1" panose="020B00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692140" cy="10287000"/>
            <a:chOff x="0" y="0"/>
            <a:chExt cx="7589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9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3771900" cy="34290"/>
            <a:chOff x="0" y="0"/>
            <a:chExt cx="5029200" cy="45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2084" y="1289304"/>
            <a:ext cx="164592" cy="164592"/>
            <a:chOff x="0" y="0"/>
            <a:chExt cx="219456" cy="219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75104" y="1289304"/>
            <a:ext cx="164592" cy="164592"/>
            <a:chOff x="0" y="0"/>
            <a:chExt cx="219456" cy="2194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78124" y="1289304"/>
            <a:ext cx="164592" cy="164592"/>
            <a:chOff x="0" y="0"/>
            <a:chExt cx="219456" cy="219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3984" y="1289304"/>
            <a:ext cx="164592" cy="164592"/>
            <a:chOff x="0" y="0"/>
            <a:chExt cx="219456" cy="219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" y="2948940"/>
            <a:ext cx="3771900" cy="34290"/>
            <a:chOff x="0" y="0"/>
            <a:chExt cx="5029200" cy="45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2084" y="2866644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75104" y="2866644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78124" y="2866644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43984" y="2866644"/>
            <a:ext cx="164592" cy="164592"/>
            <a:chOff x="0" y="0"/>
            <a:chExt cx="219456" cy="219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380" y="4526280"/>
            <a:ext cx="3771900" cy="34290"/>
            <a:chOff x="0" y="0"/>
            <a:chExt cx="5029200" cy="45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" y="4443984"/>
            <a:ext cx="164592" cy="164592"/>
            <a:chOff x="0" y="0"/>
            <a:chExt cx="219456" cy="219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75104" y="4443984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278124" y="444398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443984" y="4443984"/>
            <a:ext cx="164592" cy="164592"/>
            <a:chOff x="0" y="0"/>
            <a:chExt cx="219456" cy="219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54380" y="6103620"/>
            <a:ext cx="3771900" cy="34290"/>
            <a:chOff x="0" y="0"/>
            <a:chExt cx="5029200" cy="45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72084" y="6021324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75104" y="6021324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278124" y="6021324"/>
            <a:ext cx="164592" cy="164592"/>
            <a:chOff x="0" y="0"/>
            <a:chExt cx="219456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443984" y="6021324"/>
            <a:ext cx="164592" cy="164592"/>
            <a:chOff x="0" y="0"/>
            <a:chExt cx="219456" cy="2194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54380" y="7680960"/>
            <a:ext cx="3771900" cy="34290"/>
            <a:chOff x="0" y="0"/>
            <a:chExt cx="5029200" cy="45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2084" y="7598664"/>
            <a:ext cx="164592" cy="164592"/>
            <a:chOff x="0" y="0"/>
            <a:chExt cx="219456" cy="2194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75104" y="7598664"/>
            <a:ext cx="164592" cy="164592"/>
            <a:chOff x="0" y="0"/>
            <a:chExt cx="219456" cy="2194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278124" y="7598664"/>
            <a:ext cx="164592" cy="164592"/>
            <a:chOff x="0" y="0"/>
            <a:chExt cx="219456" cy="2194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443984" y="7598664"/>
            <a:ext cx="164592" cy="164592"/>
            <a:chOff x="0" y="0"/>
            <a:chExt cx="219456" cy="2194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54380" y="9258300"/>
            <a:ext cx="3771900" cy="34290"/>
            <a:chOff x="0" y="0"/>
            <a:chExt cx="5029200" cy="45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72084" y="9176004"/>
            <a:ext cx="164592" cy="164592"/>
            <a:chOff x="0" y="0"/>
            <a:chExt cx="219456" cy="2194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75104" y="9176004"/>
            <a:ext cx="164592" cy="164592"/>
            <a:chOff x="0" y="0"/>
            <a:chExt cx="219456" cy="219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278124" y="9176004"/>
            <a:ext cx="164592" cy="164592"/>
            <a:chOff x="0" y="0"/>
            <a:chExt cx="219456" cy="2194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443984" y="9176004"/>
            <a:ext cx="164592" cy="164592"/>
            <a:chOff x="0" y="0"/>
            <a:chExt cx="219456" cy="2194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2976" y="3764756"/>
            <a:ext cx="809816" cy="1180148"/>
            <a:chOff x="0" y="0"/>
            <a:chExt cx="1079754" cy="15735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40528" y="3764756"/>
            <a:ext cx="809816" cy="1180148"/>
            <a:chOff x="0" y="0"/>
            <a:chExt cx="1079754" cy="15735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928080" y="3764756"/>
            <a:ext cx="809816" cy="1180148"/>
            <a:chOff x="0" y="0"/>
            <a:chExt cx="1079754" cy="15735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915632" y="3764756"/>
            <a:ext cx="809816" cy="1180148"/>
            <a:chOff x="0" y="0"/>
            <a:chExt cx="1079754" cy="157353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41932" y="4142232"/>
            <a:ext cx="411480" cy="384048"/>
            <a:chOff x="0" y="0"/>
            <a:chExt cx="548640" cy="512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2729484" y="4142232"/>
            <a:ext cx="411480" cy="384048"/>
            <a:chOff x="0" y="0"/>
            <a:chExt cx="548640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3717036" y="4142232"/>
            <a:ext cx="411480" cy="384048"/>
            <a:chOff x="0" y="0"/>
            <a:chExt cx="54864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377940" y="3771900"/>
            <a:ext cx="3223260" cy="658368"/>
            <a:chOff x="0" y="0"/>
            <a:chExt cx="4297680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97680" cy="877824"/>
            </a:xfrm>
            <a:custGeom>
              <a:avLst/>
              <a:gdLst/>
              <a:ahLst/>
              <a:cxnLst/>
              <a:rect r="r" b="b" t="t" l="l"/>
              <a:pathLst>
                <a:path h="877824" w="4297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51376" y="0"/>
                  </a:lnTo>
                  <a:cubicBezTo>
                    <a:pt x="4232148" y="0"/>
                    <a:pt x="4297680" y="65532"/>
                    <a:pt x="4297680" y="146304"/>
                  </a:cubicBezTo>
                  <a:lnTo>
                    <a:pt x="4297680" y="731520"/>
                  </a:lnTo>
                  <a:cubicBezTo>
                    <a:pt x="4297680" y="812292"/>
                    <a:pt x="4232148" y="877824"/>
                    <a:pt x="4151376" y="877824"/>
                  </a:cubicBezTo>
                  <a:lnTo>
                    <a:pt x="146304" y="877824"/>
                  </a:lnTo>
                  <a:cubicBezTo>
                    <a:pt x="65532" y="877824"/>
                    <a:pt x="0" y="812292"/>
                    <a:pt x="0" y="731520"/>
                  </a:cubicBezTo>
                  <a:close/>
                </a:path>
              </a:pathLst>
            </a:custGeom>
            <a:solidFill>
              <a:srgbClr val="E0F6F3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297680" cy="906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C97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LOGIC DESIGN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2839700" y="830104"/>
            <a:ext cx="5033772" cy="8229600"/>
          </a:xfrm>
          <a:custGeom>
            <a:avLst/>
            <a:gdLst/>
            <a:ahLst/>
            <a:cxnLst/>
            <a:rect r="r" b="b" t="t" l="l"/>
            <a:pathLst>
              <a:path h="8229600" w="5033772">
                <a:moveTo>
                  <a:pt x="0" y="0"/>
                </a:moveTo>
                <a:lnTo>
                  <a:pt x="5033772" y="0"/>
                </a:lnTo>
                <a:lnTo>
                  <a:pt x="50337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6469380" y="1076325"/>
            <a:ext cx="10789920" cy="203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C979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&amp; SIMULATION OF A</a:t>
            </a:r>
          </a:p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4-BIT UNIVERSAL</a:t>
            </a:r>
          </a:p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SHIFT REGISTER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469380" y="4739640"/>
            <a:ext cx="10515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ANNADANAM SAHASRA  •  262008088  •  AI &amp; DS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KOTHAKONDA ADITHYA  •  2620090079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KUNDAVARAM ASWITHREDDY  •  2620090003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SPOORTHY KAMMARI  •  2620090035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VELETI NAGA MANASWINI   •  2620090039  •  CSIT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469380" y="8511540"/>
            <a:ext cx="1051560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 •  KARTHEEK V.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KLH UNIVERSITY  |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420334" y="4254084"/>
            <a:ext cx="5505173" cy="5257440"/>
          </a:xfrm>
          <a:custGeom>
            <a:avLst/>
            <a:gdLst/>
            <a:ahLst/>
            <a:cxnLst/>
            <a:rect r="r" b="b" t="t" l="l"/>
            <a:pathLst>
              <a:path h="5257440" w="5505173">
                <a:moveTo>
                  <a:pt x="0" y="0"/>
                </a:moveTo>
                <a:lnTo>
                  <a:pt x="5505174" y="0"/>
                </a:lnTo>
                <a:lnTo>
                  <a:pt x="5505174" y="5257441"/>
                </a:lnTo>
                <a:lnTo>
                  <a:pt x="0" y="525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2. Introduction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shift register is a sequential digital circuit used to store and transfer binary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4-bit Universal Shift Register (USR) can hold, shift left, shift right, and parallel-load 4-bit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It combines multiple data-transfer operations in one compact circuit.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Applications include data storage, serial/parallel conversion, communication systems, and digital processors.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Simulation allows the design to be verified before hardware implementation.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5501" y="1449104"/>
            <a:ext cx="13888177" cy="6802623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49850" y="5105617"/>
            <a:ext cx="5337037" cy="4803333"/>
          </a:xfrm>
          <a:custGeom>
            <a:avLst/>
            <a:gdLst/>
            <a:ahLst/>
            <a:cxnLst/>
            <a:rect r="r" b="b" t="t" l="l"/>
            <a:pathLst>
              <a:path h="4803333" w="5337037">
                <a:moveTo>
                  <a:pt x="0" y="0"/>
                </a:moveTo>
                <a:lnTo>
                  <a:pt x="5337037" y="0"/>
                </a:lnTo>
                <a:lnTo>
                  <a:pt x="5337037" y="4803333"/>
                </a:lnTo>
                <a:lnTo>
                  <a:pt x="0" y="4803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8780" y="1840230"/>
            <a:ext cx="149047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3. Problem Statement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Conventional shift registers generally support only limited data-transfer operations.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circuits may be needed when multiple operations are required.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This can increase circuit complexity, hardware requirements, and design cost.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flexible register is needed to support several operations using simple control signals.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designs and simulates a 4-bit Universal Shift Register to solve this limitation.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0136" y="1364456"/>
            <a:ext cx="16130588" cy="7900988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4774" y="1359094"/>
            <a:ext cx="16141303" cy="7911703"/>
          </a:xfrm>
          <a:custGeom>
            <a:avLst/>
            <a:gdLst/>
            <a:ahLst/>
            <a:cxnLst/>
            <a:rect r="r" b="b" t="t" l="l"/>
            <a:pathLst>
              <a:path h="7911703" w="16141303">
                <a:moveTo>
                  <a:pt x="0" y="0"/>
                </a:moveTo>
                <a:lnTo>
                  <a:pt x="16141303" y="0"/>
                </a:lnTo>
                <a:lnTo>
                  <a:pt x="16141303" y="7911703"/>
                </a:lnTo>
                <a:lnTo>
                  <a:pt x="0" y="791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73099" y="4075245"/>
            <a:ext cx="6704470" cy="4802838"/>
          </a:xfrm>
          <a:custGeom>
            <a:avLst/>
            <a:gdLst/>
            <a:ahLst/>
            <a:cxnLst/>
            <a:rect r="r" b="b" t="t" l="l"/>
            <a:pathLst>
              <a:path h="4802838" w="6704470">
                <a:moveTo>
                  <a:pt x="0" y="0"/>
                </a:moveTo>
                <a:lnTo>
                  <a:pt x="6704470" y="0"/>
                </a:lnTo>
                <a:lnTo>
                  <a:pt x="6704470" y="4802838"/>
                </a:lnTo>
                <a:lnTo>
                  <a:pt x="0" y="4802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78" y="1761379"/>
            <a:ext cx="30979416" cy="399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4. Objectives</a:t>
            </a:r>
          </a:p>
          <a:p>
            <a:pPr algn="l">
              <a:lnSpc>
                <a:spcPts val="3998"/>
              </a:lnSpc>
            </a:pP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 4-bit Universal Shift Register.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four modes: Hold, Shift Right, Shift Left, and Parallel Load.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 the role of D flip-flops, multiplexers, clock, and control signals.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Build the circuit using digital logic components.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 and verify the circuit outputs.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the design using a mode-selection table and representative test cases.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2833" y="2046977"/>
            <a:ext cx="14141662" cy="6926784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5812" y="2004004"/>
            <a:ext cx="6742503" cy="6742503"/>
          </a:xfrm>
          <a:custGeom>
            <a:avLst/>
            <a:gdLst/>
            <a:ahLst/>
            <a:cxnLst/>
            <a:rect r="r" b="b" t="t" l="l"/>
            <a:pathLst>
              <a:path h="6742503" w="6742503">
                <a:moveTo>
                  <a:pt x="0" y="0"/>
                </a:moveTo>
                <a:lnTo>
                  <a:pt x="6742504" y="0"/>
                </a:lnTo>
                <a:lnTo>
                  <a:pt x="6742504" y="6742504"/>
                </a:lnTo>
                <a:lnTo>
                  <a:pt x="0" y="6742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Literature Survey / Existing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33395" y="2550545"/>
            <a:ext cx="28799545" cy="373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5. Literature Survey / Existing System</a:t>
            </a:r>
          </a:p>
          <a:p>
            <a:pPr algn="l">
              <a:lnSpc>
                <a:spcPts val="3717"/>
              </a:lnSpc>
            </a:pP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SISO: Serial-In Serial-Out — serial data enters and leaves serially.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SIPO: Serial-In Parallel-Out — converts serial data into parallel form.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PISO: Parallel-In Serial-Out — converts parallel data into serial form.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PIPO: Parallel-In Parallel-Out — loads and transfers data in parallel.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conventional registers usually focus on one specific mode.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Universal Shift Register: combines multiple operations into one flexible design.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055325" y="1086056"/>
            <a:ext cx="2990630" cy="8544656"/>
          </a:xfrm>
          <a:custGeom>
            <a:avLst/>
            <a:gdLst/>
            <a:ahLst/>
            <a:cxnLst/>
            <a:rect r="r" b="b" t="t" l="l"/>
            <a:pathLst>
              <a:path h="8544656" w="2990630">
                <a:moveTo>
                  <a:pt x="0" y="0"/>
                </a:moveTo>
                <a:lnTo>
                  <a:pt x="2990630" y="0"/>
                </a:lnTo>
                <a:lnTo>
                  <a:pt x="2990630" y="8544656"/>
                </a:lnTo>
                <a:lnTo>
                  <a:pt x="0" y="854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Proposed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6. Proposed System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proposed design uses four D flip-flops with multiplexing logic and two mode-select inputs.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00 → Hold: retain the existing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01 → Shift Right: move data one position toward Q0.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10 → Shift Left: move data one position toward Q3.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11 → Parallel Load: load P3 P2 P1 P0 simultaneously.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Key benefits: compact design, bidirectional shifting, parallel loading, and simple control.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4396" y="1364456"/>
            <a:ext cx="16473488" cy="7900988"/>
            <a:chOff x="0" y="0"/>
            <a:chExt cx="21964650" cy="10534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9646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20208875" y="0"/>
                  </a:lnTo>
                  <a:cubicBezTo>
                    <a:pt x="21178520" y="0"/>
                    <a:pt x="21964650" y="786130"/>
                    <a:pt x="21964650" y="1755775"/>
                  </a:cubicBezTo>
                  <a:lnTo>
                    <a:pt x="21964650" y="8778875"/>
                  </a:lnTo>
                  <a:cubicBezTo>
                    <a:pt x="21964650" y="9748520"/>
                    <a:pt x="21178520" y="10534650"/>
                    <a:pt x="202088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95876" y="3216116"/>
            <a:ext cx="2963228" cy="1454468"/>
            <a:chOff x="0" y="0"/>
            <a:chExt cx="3950970" cy="1939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S1, S0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62036" y="3216116"/>
            <a:ext cx="2963228" cy="1454468"/>
            <a:chOff x="0" y="0"/>
            <a:chExt cx="3950970" cy="1939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 SELECTION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MULTIPLEXERS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39676" y="3216116"/>
            <a:ext cx="2963228" cy="1454468"/>
            <a:chOff x="0" y="0"/>
            <a:chExt cx="3950970" cy="19392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× D FLIP-FLOPS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54476" y="3216116"/>
            <a:ext cx="2963228" cy="1454468"/>
            <a:chOff x="0" y="0"/>
            <a:chExt cx="3950970" cy="19392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  Q2  Q1  Q0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83380" y="3675888"/>
            <a:ext cx="548640" cy="480060"/>
            <a:chOff x="0" y="0"/>
            <a:chExt cx="731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61020" y="3675888"/>
            <a:ext cx="548640" cy="480060"/>
            <a:chOff x="0" y="0"/>
            <a:chExt cx="73152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75820" y="3675888"/>
            <a:ext cx="548640" cy="480060"/>
            <a:chOff x="0" y="0"/>
            <a:chExt cx="7315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034089" y="3986667"/>
            <a:ext cx="5240861" cy="5240861"/>
          </a:xfrm>
          <a:custGeom>
            <a:avLst/>
            <a:gdLst/>
            <a:ahLst/>
            <a:cxnLst/>
            <a:rect r="r" b="b" t="t" l="l"/>
            <a:pathLst>
              <a:path h="5240861" w="5240861">
                <a:moveTo>
                  <a:pt x="0" y="0"/>
                </a:moveTo>
                <a:lnTo>
                  <a:pt x="5240862" y="0"/>
                </a:lnTo>
                <a:lnTo>
                  <a:pt x="5240862" y="5240861"/>
                </a:lnTo>
                <a:lnTo>
                  <a:pt x="0" y="524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086600" y="3086100"/>
            <a:ext cx="8321040" cy="8321040"/>
          </a:xfrm>
          <a:custGeom>
            <a:avLst/>
            <a:gdLst/>
            <a:ahLst/>
            <a:cxnLst/>
            <a:rect r="r" b="b" t="t" l="l"/>
            <a:pathLst>
              <a:path h="8321040" w="8321040">
                <a:moveTo>
                  <a:pt x="0" y="0"/>
                </a:moveTo>
                <a:lnTo>
                  <a:pt x="8321040" y="0"/>
                </a:lnTo>
                <a:lnTo>
                  <a:pt x="832104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System Architecture / Block Diagram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34640" y="5690235"/>
            <a:ext cx="12573000" cy="228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Parallel Inputs: P3, P2, P1, P0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Serial Inputs: SR and SL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Common Clock: CLK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50056" y="4410729"/>
            <a:ext cx="4769090" cy="4769090"/>
          </a:xfrm>
          <a:custGeom>
            <a:avLst/>
            <a:gdLst/>
            <a:ahLst/>
            <a:cxnLst/>
            <a:rect r="r" b="b" t="t" l="l"/>
            <a:pathLst>
              <a:path h="4769090" w="4769090">
                <a:moveTo>
                  <a:pt x="0" y="0"/>
                </a:moveTo>
                <a:lnTo>
                  <a:pt x="4769090" y="0"/>
                </a:lnTo>
                <a:lnTo>
                  <a:pt x="4769090" y="4769090"/>
                </a:lnTo>
                <a:lnTo>
                  <a:pt x="0" y="4769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Methodology /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8. Methodology / Implementation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1: Create four storage stages using D flip-flops.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2: Connect multiplexers before each flip-flop to select the required input.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3: Apply S1 and S0 to select the operating mode.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4: Connect serial inputs for left and right shifting and parallel inputs for loading.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5: Apply a common clock to all flip-flops.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6: Observe the register outputs after each active clock edge.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4396" y="1364456"/>
            <a:ext cx="16473488" cy="7900988"/>
            <a:chOff x="0" y="0"/>
            <a:chExt cx="21964650" cy="10534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9646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20208875" y="0"/>
                  </a:lnTo>
                  <a:cubicBezTo>
                    <a:pt x="21178520" y="0"/>
                    <a:pt x="21964650" y="786130"/>
                    <a:pt x="21964650" y="1755775"/>
                  </a:cubicBezTo>
                  <a:lnTo>
                    <a:pt x="21964650" y="8778875"/>
                  </a:lnTo>
                  <a:cubicBezTo>
                    <a:pt x="21964650" y="9748520"/>
                    <a:pt x="21178520" y="10534650"/>
                    <a:pt x="202088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64456" y="1981676"/>
            <a:ext cx="2140267" cy="809816"/>
            <a:chOff x="0" y="0"/>
            <a:chExt cx="2853690" cy="1079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 S0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90436" y="1981676"/>
            <a:ext cx="4129088" cy="809816"/>
            <a:chOff x="0" y="0"/>
            <a:chExt cx="5505450" cy="1079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5236" y="1981676"/>
            <a:ext cx="9341168" cy="809816"/>
            <a:chOff x="0" y="0"/>
            <a:chExt cx="12454890" cy="10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RESULT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4456" y="2900648"/>
            <a:ext cx="2140267" cy="809816"/>
            <a:chOff x="0" y="0"/>
            <a:chExt cx="2853690" cy="10797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90436" y="2900648"/>
            <a:ext cx="4129088" cy="809816"/>
            <a:chOff x="0" y="0"/>
            <a:chExt cx="5505450" cy="10797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05236" y="2900648"/>
            <a:ext cx="9341168" cy="809816"/>
            <a:chOff x="0" y="0"/>
            <a:chExt cx="12454890" cy="10797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Previous data retained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4456" y="3819620"/>
            <a:ext cx="2140267" cy="809816"/>
            <a:chOff x="0" y="0"/>
            <a:chExt cx="2853690" cy="10797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490436" y="3819620"/>
            <a:ext cx="4129088" cy="809816"/>
            <a:chOff x="0" y="0"/>
            <a:chExt cx="5505450" cy="10797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 Right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05236" y="3819620"/>
            <a:ext cx="9341168" cy="809816"/>
            <a:chOff x="0" y="0"/>
            <a:chExt cx="12454890" cy="10797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Bits move toward Q0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4456" y="4738592"/>
            <a:ext cx="2140267" cy="809816"/>
            <a:chOff x="0" y="0"/>
            <a:chExt cx="2853690" cy="10797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490436" y="4738592"/>
            <a:ext cx="4129088" cy="809816"/>
            <a:chOff x="0" y="0"/>
            <a:chExt cx="5505450" cy="10797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 Left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605236" y="4738592"/>
            <a:ext cx="9341168" cy="809816"/>
            <a:chOff x="0" y="0"/>
            <a:chExt cx="12454890" cy="10797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Bits move toward Q3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4456" y="5657564"/>
            <a:ext cx="2140267" cy="809816"/>
            <a:chOff x="0" y="0"/>
            <a:chExt cx="2853690" cy="10797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490436" y="5657564"/>
            <a:ext cx="4129088" cy="809816"/>
            <a:chOff x="0" y="0"/>
            <a:chExt cx="5505450" cy="107975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Load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05236" y="5657564"/>
            <a:ext cx="9341168" cy="809816"/>
            <a:chOff x="0" y="0"/>
            <a:chExt cx="12454890" cy="10797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P3 P2 P1 P0 loaded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420711" y="1856142"/>
            <a:ext cx="8663090" cy="8143305"/>
          </a:xfrm>
          <a:custGeom>
            <a:avLst/>
            <a:gdLst/>
            <a:ahLst/>
            <a:cxnLst/>
            <a:rect r="r" b="b" t="t" l="l"/>
            <a:pathLst>
              <a:path h="8143305" w="8663090">
                <a:moveTo>
                  <a:pt x="0" y="0"/>
                </a:moveTo>
                <a:lnTo>
                  <a:pt x="8663090" y="0"/>
                </a:lnTo>
                <a:lnTo>
                  <a:pt x="8663090" y="8143305"/>
                </a:lnTo>
                <a:lnTo>
                  <a:pt x="0" y="8143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Results and Discussion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9002" y="564564"/>
            <a:ext cx="21420527" cy="8889519"/>
          </a:xfrm>
          <a:custGeom>
            <a:avLst/>
            <a:gdLst/>
            <a:ahLst/>
            <a:cxnLst/>
            <a:rect r="r" b="b" t="t" l="l"/>
            <a:pathLst>
              <a:path h="8889519" w="21420527">
                <a:moveTo>
                  <a:pt x="0" y="0"/>
                </a:moveTo>
                <a:lnTo>
                  <a:pt x="21420527" y="0"/>
                </a:lnTo>
                <a:lnTo>
                  <a:pt x="21420527" y="8889519"/>
                </a:lnTo>
                <a:lnTo>
                  <a:pt x="0" y="888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3040" y="1754505"/>
            <a:ext cx="153162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901" y="3276244"/>
            <a:ext cx="3103218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 4-bit Universal Shift Register was successfully designed and simulated.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design supports hold, shift right, shift left, and parallel-load operations.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demonstrates the practical application of sequential logic and digital circuit design.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objectives were fulfilled by verifying the expected behavior of all four modes.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37160"/>
            <a:chOff x="0" y="0"/>
            <a:chExt cx="2438339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82880"/>
            </a:xfrm>
            <a:custGeom>
              <a:avLst/>
              <a:gdLst/>
              <a:ahLst/>
              <a:cxnLst/>
              <a:rect r="r" b="b" t="t" l="l"/>
              <a:pathLst>
                <a:path h="1828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65C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49840"/>
            <a:ext cx="18287543" cy="137160"/>
            <a:chOff x="0" y="0"/>
            <a:chExt cx="24383390" cy="18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82880"/>
            </a:xfrm>
            <a:custGeom>
              <a:avLst/>
              <a:gdLst/>
              <a:ahLst/>
              <a:cxnLst/>
              <a:rect r="r" b="b" t="t" l="l"/>
              <a:pathLst>
                <a:path h="1828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65C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74533" y="2797492"/>
            <a:ext cx="14361795" cy="4623435"/>
            <a:chOff x="0" y="0"/>
            <a:chExt cx="19149060" cy="61645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49061" cy="6164580"/>
            </a:xfrm>
            <a:custGeom>
              <a:avLst/>
              <a:gdLst/>
              <a:ahLst/>
              <a:cxnLst/>
              <a:rect r="r" b="b" t="t" l="l"/>
              <a:pathLst>
                <a:path h="6164580" w="19149061">
                  <a:moveTo>
                    <a:pt x="0" y="1027430"/>
                  </a:moveTo>
                  <a:cubicBezTo>
                    <a:pt x="0" y="459994"/>
                    <a:pt x="459994" y="0"/>
                    <a:pt x="1027430" y="0"/>
                  </a:cubicBezTo>
                  <a:lnTo>
                    <a:pt x="18121630" y="0"/>
                  </a:lnTo>
                  <a:cubicBezTo>
                    <a:pt x="18689065" y="0"/>
                    <a:pt x="19149061" y="459994"/>
                    <a:pt x="19149061" y="1027430"/>
                  </a:cubicBezTo>
                  <a:lnTo>
                    <a:pt x="19149061" y="5137150"/>
                  </a:lnTo>
                  <a:cubicBezTo>
                    <a:pt x="19149061" y="5704586"/>
                    <a:pt x="18689065" y="6164580"/>
                    <a:pt x="18121630" y="6164580"/>
                  </a:cubicBezTo>
                  <a:lnTo>
                    <a:pt x="1027430" y="6164580"/>
                  </a:lnTo>
                  <a:cubicBezTo>
                    <a:pt x="459994" y="6164580"/>
                    <a:pt x="0" y="5704586"/>
                    <a:pt x="0" y="51371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210954" y="3706153"/>
            <a:ext cx="11865635" cy="2874693"/>
            <a:chOff x="0" y="0"/>
            <a:chExt cx="15820847" cy="38329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20847" cy="3832915"/>
            </a:xfrm>
            <a:custGeom>
              <a:avLst/>
              <a:gdLst/>
              <a:ahLst/>
              <a:cxnLst/>
              <a:rect r="r" b="b" t="t" l="l"/>
              <a:pathLst>
                <a:path h="3832915" w="15820847">
                  <a:moveTo>
                    <a:pt x="0" y="0"/>
                  </a:moveTo>
                  <a:lnTo>
                    <a:pt x="15820847" y="0"/>
                  </a:lnTo>
                  <a:lnTo>
                    <a:pt x="15820847" y="3832915"/>
                  </a:lnTo>
                  <a:lnTo>
                    <a:pt x="0" y="3832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9" r="0" b="-933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5820847" cy="3842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880"/>
                </a:lnSpc>
              </a:pPr>
              <a:r>
                <a:rPr lang="en-US" sz="9900" b="true">
                  <a:solidFill>
                    <a:srgbClr val="265C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4-Bit Universal Shift Register – Circuit Diagram</a:t>
            </a:r>
          </a:p>
        </p:txBody>
      </p:sp>
      <p:pic>
        <p:nvPicPr>
          <p:cNvPr id="3" name="Picture 2" descr="saved-image-file_00000000a1e48211a22f392f530cac6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077" y="749808"/>
            <a:ext cx="6033540" cy="57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DAHVRTQeNos</dc:identifier>
  <dcterms:modified xsi:type="dcterms:W3CDTF">2011-08-01T06:04:30Z</dcterms:modified>
  <cp:revision>1</cp:revision>
  <dc:title>5_6145612779077248177.pptx</dc:title>
</cp:coreProperties>
</file>